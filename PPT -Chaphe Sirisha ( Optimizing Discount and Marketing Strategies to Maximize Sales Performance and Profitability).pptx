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hith c" initials="Rc" lastIdx="1" clrIdx="0">
    <p:extLst>
      <p:ext uri="{19B8F6BF-5375-455C-9EA6-DF929625EA0E}">
        <p15:presenceInfo xmlns:p15="http://schemas.microsoft.com/office/powerpoint/2012/main" userId="7a9a874ea85c66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BD669-DBD1-4026-A6C3-5E4150C781C1}" v="2" dt="2026-04-29T15:34:21.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3" y="60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iya Shaik" userId="17d764c7a5f8ef17" providerId="LiveId" clId="{B1288120-2C9E-467C-A2A4-E4E0CC352515}"/>
    <pc:docChg chg="modSld">
      <pc:chgData name="Sumaiya Shaik" userId="17d764c7a5f8ef17" providerId="LiveId" clId="{B1288120-2C9E-467C-A2A4-E4E0CC352515}" dt="2026-04-29T15:35:33.012" v="10" actId="1076"/>
      <pc:docMkLst>
        <pc:docMk/>
      </pc:docMkLst>
      <pc:sldChg chg="modSp mod">
        <pc:chgData name="Sumaiya Shaik" userId="17d764c7a5f8ef17" providerId="LiveId" clId="{B1288120-2C9E-467C-A2A4-E4E0CC352515}" dt="2026-04-29T15:34:59.305" v="8" actId="20577"/>
        <pc:sldMkLst>
          <pc:docMk/>
          <pc:sldMk cId="0" sldId="261"/>
        </pc:sldMkLst>
        <pc:spChg chg="mod">
          <ac:chgData name="Sumaiya Shaik" userId="17d764c7a5f8ef17" providerId="LiveId" clId="{B1288120-2C9E-467C-A2A4-E4E0CC352515}" dt="2026-04-29T15:34:59.305" v="8" actId="20577"/>
          <ac:spMkLst>
            <pc:docMk/>
            <pc:sldMk cId="0" sldId="261"/>
            <ac:spMk id="2" creationId="{699E7078-033D-419D-8D9D-B45770F223CE}"/>
          </ac:spMkLst>
        </pc:spChg>
        <pc:spChg chg="mod">
          <ac:chgData name="Sumaiya Shaik" userId="17d764c7a5f8ef17" providerId="LiveId" clId="{B1288120-2C9E-467C-A2A4-E4E0CC352515}" dt="2026-04-29T15:34:28.508" v="6" actId="20577"/>
          <ac:spMkLst>
            <pc:docMk/>
            <pc:sldMk cId="0" sldId="261"/>
            <ac:spMk id="13" creationId="{00000000-0000-0000-0000-000000000000}"/>
          </ac:spMkLst>
        </pc:spChg>
      </pc:sldChg>
      <pc:sldChg chg="modSp mod">
        <pc:chgData name="Sumaiya Shaik" userId="17d764c7a5f8ef17" providerId="LiveId" clId="{B1288120-2C9E-467C-A2A4-E4E0CC352515}" dt="2026-04-29T15:35:33.012" v="10" actId="1076"/>
        <pc:sldMkLst>
          <pc:docMk/>
          <pc:sldMk cId="0" sldId="265"/>
        </pc:sldMkLst>
        <pc:picChg chg="mod">
          <ac:chgData name="Sumaiya Shaik" userId="17d764c7a5f8ef17" providerId="LiveId" clId="{B1288120-2C9E-467C-A2A4-E4E0CC352515}" dt="2026-04-29T15:35:33.012" v="10" actId="1076"/>
          <ac:picMkLst>
            <pc:docMk/>
            <pc:sldMk cId="0" sldId="265"/>
            <ac:picMk id="2" creationId="{412449DB-BF51-DAAE-EA83-F4C00896763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hyperlink" Target="https://app.powerbi.com/links/hhLERj3EWZ?ctid=aed43286-0f66-47d6-942b-d31a4b8addca&amp;pbi_source=linkShare" TargetMode="External"/><Relationship Id="rId5" Type="http://schemas.openxmlformats.org/officeDocument/2006/relationships/hyperlink" Target="https://youtu.be/jJxOhHrAaRQ" TargetMode="External"/><Relationship Id="rId4" Type="http://schemas.openxmlformats.org/officeDocument/2006/relationships/hyperlink" Target="https://github.com/chaphesirisha/Optimizing-Discount-and-Marketing-Strategies-to-Maximize-Sales-Performance-and-Profitability.git"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youtu.be/jJxOhHrAaRQ"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1" y="5017321"/>
            <a:ext cx="7710223" cy="455963"/>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599933" y="438828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599933" y="4510891"/>
            <a:ext cx="1633432" cy="227435"/>
          </a:xfrm>
          <a:prstGeom prst="rect">
            <a:avLst/>
          </a:prstGeom>
        </p:spPr>
        <p:txBody>
          <a:bodyPr lIns="0" tIns="0" rIns="0" bIns="0" rtlCol="0" anchor="t">
            <a:spAutoFit/>
          </a:bodyPr>
          <a:lstStyle/>
          <a:p>
            <a:pPr>
              <a:lnSpc>
                <a:spcPts val="2038"/>
              </a:lnSpc>
            </a:pPr>
            <a:r>
              <a:rPr lang="en-US" sz="1050" b="1" dirty="0" err="1">
                <a:solidFill>
                  <a:srgbClr val="0D358D"/>
                </a:solidFill>
                <a:latin typeface="Arial" panose="020B0604020202020204" pitchFamily="34" charset="0"/>
                <a:ea typeface="Aileron Bold"/>
                <a:cs typeface="Arial" panose="020B0604020202020204" pitchFamily="34" charset="0"/>
                <a:sym typeface="Aileron Bold"/>
              </a:rPr>
              <a:t>Chaphe</a:t>
            </a:r>
            <a:r>
              <a:rPr lang="en-US" sz="1050" b="1" dirty="0">
                <a:solidFill>
                  <a:srgbClr val="0D358D"/>
                </a:solidFill>
                <a:latin typeface="Arial" panose="020B0604020202020204" pitchFamily="34" charset="0"/>
                <a:ea typeface="Aileron Bold"/>
                <a:cs typeface="Arial" panose="020B0604020202020204" pitchFamily="34" charset="0"/>
                <a:sym typeface="Aileron Bold"/>
              </a:rPr>
              <a:t> Sirisha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2192721" y="4344300"/>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257127" y="4398273"/>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264408" y="4513584"/>
            <a:ext cx="2272871" cy="227435"/>
          </a:xfrm>
          <a:prstGeom prst="rect">
            <a:avLst/>
          </a:prstGeom>
        </p:spPr>
        <p:txBody>
          <a:bodyPr lIns="0" tIns="0" rIns="0" bIns="0" rtlCol="0" anchor="t">
            <a:spAutoFit/>
          </a:bodyPr>
          <a:lstStyle/>
          <a:p>
            <a:pPr>
              <a:lnSpc>
                <a:spcPts val="2038"/>
              </a:lnSpc>
            </a:pPr>
            <a:r>
              <a:rPr lang="en-US" sz="1050" b="1" dirty="0">
                <a:solidFill>
                  <a:srgbClr val="0D358D"/>
                </a:solidFill>
                <a:latin typeface="Arial" panose="020B0604020202020204" pitchFamily="34" charset="0"/>
                <a:ea typeface="Aileron Bold"/>
                <a:cs typeface="Arial" panose="020B0604020202020204" pitchFamily="34" charset="0"/>
                <a:sym typeface="Aileron Bold"/>
              </a:rPr>
              <a:t>chaphesirisha17@gmail.com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785008" y="4351300"/>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050" b="1" dirty="0">
                  <a:solidFill>
                    <a:srgbClr val="0D358D"/>
                  </a:solidFill>
                  <a:latin typeface="Arial" panose="020B0604020202020204" pitchFamily="34" charset="0"/>
                  <a:ea typeface="Aileron Bold"/>
                  <a:cs typeface="Arial" panose="020B0604020202020204" pitchFamily="34" charset="0"/>
                  <a:sym typeface="Aileron Bold"/>
                </a:rPr>
                <a:t>R. Uma Maheswari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3E9E2D27-BBAA-6651-7220-DA31A88FBD37}"/>
              </a:ext>
            </a:extLst>
          </p:cNvPr>
          <p:cNvSpPr txBox="1"/>
          <p:nvPr/>
        </p:nvSpPr>
        <p:spPr>
          <a:xfrm>
            <a:off x="447718" y="3454877"/>
            <a:ext cx="5756222" cy="707886"/>
          </a:xfrm>
          <a:prstGeom prst="rect">
            <a:avLst/>
          </a:prstGeom>
          <a:noFill/>
        </p:spPr>
        <p:txBody>
          <a:bodyPr wrap="square">
            <a:spAutoFit/>
          </a:bodyPr>
          <a:lstStyle/>
          <a:p>
            <a:pPr algn="ctr">
              <a:spcBef>
                <a:spcPts val="400"/>
              </a:spcBef>
              <a:spcAft>
                <a:spcPts val="400"/>
              </a:spcAft>
              <a:buNone/>
            </a:pPr>
            <a:r>
              <a:rPr lang="en-IN" sz="2000" b="1" dirty="0">
                <a:solidFill>
                  <a:srgbClr val="1B3A8A"/>
                </a:solidFill>
                <a:effectLst/>
                <a:latin typeface="Arial" panose="020B0604020202020204" pitchFamily="34" charset="0"/>
                <a:ea typeface="Arial" panose="020B0604020202020204" pitchFamily="34" charset="0"/>
              </a:rPr>
              <a:t>[</a:t>
            </a:r>
            <a:r>
              <a:rPr lang="en-US" sz="1800" b="1" dirty="0">
                <a:solidFill>
                  <a:srgbClr val="1B3A8A"/>
                </a:solidFill>
                <a:latin typeface="Arial" panose="020B0604020202020204" pitchFamily="34" charset="0"/>
                <a:ea typeface="Arial" panose="020B0604020202020204" pitchFamily="34" charset="0"/>
              </a:rPr>
              <a:t>Optimizing Discount and Marketing Strategies to Maximize Sales Performance and Profitability</a:t>
            </a:r>
            <a:r>
              <a:rPr lang="en-IN" sz="2000" b="1" dirty="0">
                <a:solidFill>
                  <a:srgbClr val="1B3A8A"/>
                </a:solidFill>
                <a:effectLst/>
                <a:latin typeface="Arial" panose="020B0604020202020204" pitchFamily="34" charset="0"/>
                <a:ea typeface="Arial" panose="020B0604020202020204" pitchFamily="34" charset="0"/>
              </a:rPr>
              <a:t>]</a:t>
            </a:r>
            <a:endParaRPr lang="en-IN" sz="110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549690"/>
          </a:xfrm>
          <a:prstGeom prst="rect">
            <a:avLst/>
          </a:prstGeom>
          <a:noFill/>
        </p:spPr>
        <p:txBody>
          <a:bodyPr wrap="square">
            <a:spAutoFit/>
          </a:bodyPr>
          <a:lstStyle/>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Overview</a:t>
            </a:r>
            <a:r>
              <a:rPr lang="en-US" dirty="0">
                <a:latin typeface="Lato" panose="020F0502020204030203" pitchFamily="34" charset="0"/>
                <a:ea typeface="Open Sans" panose="020B0606030504020204" pitchFamily="34" charset="0"/>
                <a:cs typeface="Arial" panose="020B0604020202020204" pitchFamily="34" charset="0"/>
              </a:rPr>
              <a:t>: This project focuses on analyzing sales data to evaluate discount and marketing strategies.</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Objective:</a:t>
            </a:r>
            <a:r>
              <a:rPr lang="en-US" dirty="0">
                <a:latin typeface="Lato" panose="020F0502020204030203" pitchFamily="34" charset="0"/>
                <a:ea typeface="Open Sans" panose="020B0606030504020204" pitchFamily="34" charset="0"/>
                <a:cs typeface="Arial" panose="020B0604020202020204" pitchFamily="34" charset="0"/>
              </a:rPr>
              <a:t> To convert raw data into meaningful insights for better business decision-making.</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Tools</a:t>
            </a:r>
            <a:r>
              <a:rPr lang="en-US" dirty="0">
                <a:latin typeface="Lato" panose="020F0502020204030203" pitchFamily="34" charset="0"/>
                <a:ea typeface="Open Sans" panose="020B0606030504020204" pitchFamily="34" charset="0"/>
                <a:cs typeface="Arial" panose="020B0604020202020204" pitchFamily="34" charset="0"/>
              </a:rPr>
              <a:t>: </a:t>
            </a:r>
            <a:r>
              <a:rPr lang="en-US" dirty="0" err="1">
                <a:latin typeface="Lato" panose="020F0502020204030203" pitchFamily="34" charset="0"/>
                <a:ea typeface="Open Sans" panose="020B0606030504020204" pitchFamily="34" charset="0"/>
                <a:cs typeface="Arial" panose="020B0604020202020204" pitchFamily="34" charset="0"/>
              </a:rPr>
              <a:t>Micosoft</a:t>
            </a:r>
            <a:r>
              <a:rPr lang="en-US" dirty="0">
                <a:latin typeface="Lato" panose="020F0502020204030203" pitchFamily="34" charset="0"/>
                <a:ea typeface="Open Sans" panose="020B0606030504020204" pitchFamily="34" charset="0"/>
                <a:cs typeface="Arial" panose="020B0604020202020204" pitchFamily="34" charset="0"/>
              </a:rPr>
              <a:t> Excel, Power BI.</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Outcomes</a:t>
            </a:r>
            <a:r>
              <a:rPr lang="en-US" dirty="0">
                <a:latin typeface="Lato" panose="020F0502020204030203" pitchFamily="34" charset="0"/>
                <a:ea typeface="Open Sans" panose="020B0606030504020204" pitchFamily="34" charset="0"/>
                <a:cs typeface="Arial" panose="020B0604020202020204" pitchFamily="34" charset="0"/>
              </a:rPr>
              <a:t>: Built a Power BI dashboard for sales insights.</a:t>
            </a:r>
          </a:p>
          <a:p>
            <a:pPr marL="285750" indent="-285750">
              <a:spcAft>
                <a:spcPts val="800"/>
              </a:spcAft>
              <a:buFont typeface="Arial" panose="020B0604020202020204" pitchFamily="34" charset="0"/>
              <a:buChar char="•"/>
              <a:tabLst>
                <a:tab pos="4229100" algn="ctr"/>
              </a:tabLst>
            </a:pPr>
            <a:r>
              <a:rPr lang="en-US" b="1" dirty="0">
                <a:latin typeface="Lato" panose="020F0502020204030203" pitchFamily="34" charset="0"/>
                <a:ea typeface="Open Sans" panose="020B0606030504020204" pitchFamily="34" charset="0"/>
                <a:cs typeface="Arial" panose="020B0604020202020204" pitchFamily="34" charset="0"/>
              </a:rPr>
              <a:t>Key Highlights</a:t>
            </a:r>
            <a:r>
              <a:rPr lang="en-US" dirty="0">
                <a:latin typeface="Lato" panose="020F0502020204030203" pitchFamily="34" charset="0"/>
                <a:ea typeface="Open Sans" panose="020B0606030504020204" pitchFamily="34" charset="0"/>
                <a:cs typeface="Arial" panose="020B0604020202020204" pitchFamily="34" charset="0"/>
              </a:rPr>
              <a:t>: Interactive dashboard with real-time filtering (region &amp; product)</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826689"/>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C</a:t>
            </a:r>
            <a:r>
              <a:rPr lang="en-US" b="1"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ore Pro</a:t>
            </a:r>
            <a:r>
              <a:rPr lang="en-US" b="1" dirty="0">
                <a:latin typeface="Lato" panose="020F0502020204030203" pitchFamily="34" charset="0"/>
                <a:ea typeface="Times New Roman" panose="02020603050405020304" pitchFamily="18" charset="0"/>
                <a:cs typeface="Arial" panose="020B0604020202020204" pitchFamily="34" charset="0"/>
              </a:rPr>
              <a:t>blem: </a:t>
            </a:r>
            <a:r>
              <a:rPr lang="en-US" dirty="0">
                <a:latin typeface="Lato" panose="020F0502020204030203" pitchFamily="34" charset="0"/>
                <a:ea typeface="Times New Roman" panose="02020603050405020304" pitchFamily="18" charset="0"/>
                <a:cs typeface="Arial" panose="020B0604020202020204" pitchFamily="34" charset="0"/>
              </a:rPr>
              <a:t>Businesses struggle to extract meaningful insights from sales data </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Impact: </a:t>
            </a:r>
            <a:r>
              <a:rPr lang="en-US" dirty="0">
                <a:latin typeface="Lato" panose="020F0502020204030203" pitchFamily="34" charset="0"/>
                <a:ea typeface="Times New Roman" panose="02020603050405020304" pitchFamily="18" charset="0"/>
                <a:cs typeface="Arial" panose="020B0604020202020204" pitchFamily="34" charset="0"/>
              </a:rPr>
              <a:t>Poor analysis leads to wrong decisions and reduced profitability.</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Target Users: </a:t>
            </a:r>
            <a:r>
              <a:rPr lang="en-US" dirty="0">
                <a:latin typeface="Lato" panose="020F0502020204030203" pitchFamily="34" charset="0"/>
                <a:ea typeface="Times New Roman" panose="02020603050405020304" pitchFamily="18" charset="0"/>
                <a:cs typeface="Arial" panose="020B0604020202020204" pitchFamily="34" charset="0"/>
              </a:rPr>
              <a:t>Business owners, sales teams, and decision-makers.</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Limitations: </a:t>
            </a:r>
            <a:r>
              <a:rPr lang="en-US" dirty="0">
                <a:latin typeface="Lato" panose="020F0502020204030203" pitchFamily="34" charset="0"/>
                <a:ea typeface="Times New Roman" panose="02020603050405020304" pitchFamily="18" charset="0"/>
                <a:cs typeface="Arial" panose="020B0604020202020204" pitchFamily="34" charset="0"/>
              </a:rPr>
              <a:t>Insights are hidden in raw data and basic spreadsheets, making analysis difficult and time-consuming.</a:t>
            </a:r>
          </a:p>
          <a:p>
            <a:pPr marL="228600" indent="-228600">
              <a:spcAft>
                <a:spcPts val="800"/>
              </a:spcAft>
              <a:buFont typeface="Arial" panose="020B0604020202020204" pitchFamily="34" charset="0"/>
              <a:buChar char="•"/>
              <a:tabLst>
                <a:tab pos="4229100" algn="ctr"/>
              </a:tabLst>
            </a:pPr>
            <a:r>
              <a:rPr lang="en-US" b="1" dirty="0">
                <a:latin typeface="Lato" panose="020F0502020204030203" pitchFamily="34" charset="0"/>
                <a:ea typeface="Times New Roman" panose="02020603050405020304" pitchFamily="18" charset="0"/>
                <a:cs typeface="Arial" panose="020B0604020202020204" pitchFamily="34" charset="0"/>
              </a:rPr>
              <a:t>Scope: </a:t>
            </a:r>
            <a:r>
              <a:rPr lang="en-US" dirty="0">
                <a:latin typeface="Lato" panose="020F0502020204030203" pitchFamily="34" charset="0"/>
                <a:ea typeface="Times New Roman" panose="02020603050405020304" pitchFamily="18" charset="0"/>
                <a:cs typeface="Arial" panose="020B0604020202020204" pitchFamily="34" charset="0"/>
              </a:rPr>
              <a:t>Analyzing sales data using Excel and Power BI to generate meaningful insights and dashboards.</a:t>
            </a:r>
            <a:endParaRPr lang="en-US" dirty="0">
              <a:solidFill>
                <a:schemeClr val="tx1"/>
              </a:solidFill>
              <a:effectLst/>
              <a:latin typeface="Lato" panose="020F0502020204030203" pitchFamily="34" charset="0"/>
              <a:ea typeface="Times New Roman" panose="02020603050405020304" pitchFamily="18" charset="0"/>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5" y="1046012"/>
            <a:ext cx="4493927" cy="3688547"/>
          </a:xfrm>
          <a:prstGeom prst="rect">
            <a:avLst/>
          </a:prstGeom>
          <a:noFill/>
          <a:ln/>
        </p:spPr>
        <p:txBody>
          <a:bodyPr wrap="square" rtlCol="0" anchor="t"/>
          <a:lstStyle/>
          <a:p>
            <a:pPr marL="285750" indent="-285750">
              <a:buFont typeface="Arial" panose="020B0604020202020204" pitchFamily="34" charset="0"/>
              <a:buChar char="•"/>
            </a:pPr>
            <a:r>
              <a:rPr lang="en-US" b="1" dirty="0">
                <a:latin typeface="Lato" panose="020F0502020204030203" pitchFamily="34" charset="0"/>
                <a:cs typeface="Arial" panose="020B0604020202020204" pitchFamily="34" charset="0"/>
              </a:rPr>
              <a:t>Solution strategy:  </a:t>
            </a:r>
            <a:r>
              <a:rPr lang="en-US" dirty="0">
                <a:latin typeface="Lato" panose="020F0502020204030203" pitchFamily="34" charset="0"/>
                <a:cs typeface="Arial" panose="020B0604020202020204" pitchFamily="34" charset="0"/>
              </a:rPr>
              <a:t>Transform raw sales data into a structured, insight-driven system using Excel and Power BI for accurate business analysis. </a:t>
            </a:r>
          </a:p>
          <a:p>
            <a:pPr marL="285750" indent="-285750">
              <a:buFont typeface="Arial" panose="020B0604020202020204" pitchFamily="34" charset="0"/>
              <a:buChar char="•"/>
            </a:pPr>
            <a:endParaRPr lang="en-US" dirty="0">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b="1" dirty="0">
                <a:latin typeface="Lato" panose="020F0502020204030203" pitchFamily="34" charset="0"/>
                <a:cs typeface="Arial" panose="020B0604020202020204" pitchFamily="34" charset="0"/>
              </a:rPr>
              <a:t>Key Benefit:</a:t>
            </a:r>
            <a:r>
              <a:rPr lang="en-US" dirty="0">
                <a:latin typeface="Lato" panose="020F0502020204030203" pitchFamily="34" charset="0"/>
                <a:cs typeface="Arial" panose="020B0604020202020204" pitchFamily="34" charset="0"/>
              </a:rPr>
              <a:t> Provides clear, real-time insights that help businesses make smarter, data-driven decisions and improve profitability.</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Data was cleaned and transformed using Excel Power Query by removing duplicates, handling missing values, and structuring the data for accurate analysis.</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600" dirty="0">
                <a:latin typeface="Lato" panose="020F0502020204030203" pitchFamily="34" charset="0"/>
                <a:cs typeface="Arial" panose="020B0604020202020204" pitchFamily="34" charset="0"/>
              </a:rPr>
              <a:t>Used Excel, Power BI, and AI tools like Copilot to speed up data analysis, generate insights, and improve accuracy.</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a:latin typeface="Lato" panose="020F0502020204030203" pitchFamily="34" charset="0"/>
                <a:cs typeface="Arial" panose="020B0604020202020204" pitchFamily="34" charset="0"/>
              </a:rPr>
              <a:t>Interactive Power BI dashboard showing sales trends, profit analysis, customer insights, and performance reports.</a:t>
            </a:r>
            <a:endParaRPr lang="en-US" sz="1600"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699E7078-033D-419D-8D9D-B45770F223CE}"/>
              </a:ext>
            </a:extLst>
          </p:cNvPr>
          <p:cNvSpPr/>
          <p:nvPr/>
        </p:nvSpPr>
        <p:spPr>
          <a:xfrm>
            <a:off x="235408" y="1700400"/>
            <a:ext cx="4572000" cy="923330"/>
          </a:xfrm>
          <a:prstGeom prst="rect">
            <a:avLst/>
          </a:prstGeom>
        </p:spPr>
        <p:txBody>
          <a:bodyPr>
            <a:spAutoFit/>
          </a:bodyPr>
          <a:lstStyle/>
          <a:p>
            <a:r>
              <a:rPr lang="en-US" dirty="0"/>
              <a:t>The dataset contains 1000 rows and is sourced from Excel files with details like product, region, sales, cost, and customer data</a:t>
            </a:r>
            <a:r>
              <a:rPr lang="en-IN" dirty="0"/>
              <a: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125984" y="2235285"/>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r>
              <a:rPr lang="en-IN" dirty="0">
                <a:latin typeface="Lato" panose="020F0502020204030203" pitchFamily="34" charset="0"/>
              </a:rPr>
              <a:t>     </a:t>
            </a:r>
            <a:r>
              <a:rPr lang="en-IN" b="1" dirty="0" err="1">
                <a:latin typeface="Lato" panose="020F0502020204030203" pitchFamily="34" charset="0"/>
              </a:rPr>
              <a:t>Github</a:t>
            </a:r>
            <a:r>
              <a:rPr lang="en-IN" b="1" dirty="0">
                <a:latin typeface="Lato" panose="020F0502020204030203" pitchFamily="34" charset="0"/>
              </a:rPr>
              <a:t> Repository:</a:t>
            </a:r>
          </a:p>
          <a:p>
            <a:endParaRPr lang="en-IN" dirty="0">
              <a:latin typeface="Lato" panose="020F0502020204030203" pitchFamily="34" charset="0"/>
            </a:endParaRPr>
          </a:p>
          <a:p>
            <a:r>
              <a:rPr lang="en-IN" dirty="0">
                <a:latin typeface="Lato" panose="020F0502020204030203" pitchFamily="34" charset="0"/>
                <a:hlinkClick r:id="rId4"/>
              </a:rPr>
              <a:t>https://github.com/chaphesirisha/Optimizing-Discount-and-Marketing-Strategies-to-Maximize-Sales-Performance-and-Profitability.git</a:t>
            </a:r>
            <a:endParaRPr lang="en-IN" dirty="0">
              <a:latin typeface="Lato" panose="020F0502020204030203" pitchFamily="34" charset="0"/>
            </a:endParaRPr>
          </a:p>
        </p:txBody>
      </p:sp>
      <p:sp>
        <p:nvSpPr>
          <p:cNvPr id="10" name="Text 8"/>
          <p:cNvSpPr/>
          <p:nvPr/>
        </p:nvSpPr>
        <p:spPr>
          <a:xfrm>
            <a:off x="274320" y="2413801"/>
            <a:ext cx="2505456" cy="2651759"/>
          </a:xfrm>
          <a:prstGeom prst="rect">
            <a:avLst/>
          </a:prstGeom>
          <a:noFill/>
          <a:ln/>
        </p:spPr>
        <p:txBody>
          <a:bodyPr wrap="square" rtlCol="0" anchor="ctr"/>
          <a:lstStyle/>
          <a:p>
            <a:pPr algn="ctr"/>
            <a:endParaRPr lang="en-US" sz="1600" b="1" dirty="0">
              <a:latin typeface="Lato" panose="020F0502020204030203" pitchFamily="34" charset="0"/>
              <a:ea typeface="Calibri" pitchFamily="34" charset="-122"/>
              <a:cs typeface="Arial" panose="020B0604020202020204" pitchFamily="34" charset="0"/>
            </a:endParaRPr>
          </a:p>
        </p:txBody>
      </p:sp>
      <p:sp>
        <p:nvSpPr>
          <p:cNvPr id="11" name="Text 9"/>
          <p:cNvSpPr/>
          <p:nvPr/>
        </p:nvSpPr>
        <p:spPr>
          <a:xfrm>
            <a:off x="-11176" y="2196877"/>
            <a:ext cx="2805457" cy="2704384"/>
          </a:xfrm>
          <a:prstGeom prst="rect">
            <a:avLst/>
          </a:prstGeom>
          <a:noFill/>
          <a:ln/>
        </p:spPr>
        <p:txBody>
          <a:bodyPr wrap="square" rtlCol="0" anchor="ctr"/>
          <a:lstStyle/>
          <a:p>
            <a:pPr algn="ct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a:hlinkClick r:id="rId5"/>
          </p:cNvPr>
          <p:cNvSpPr/>
          <p:nvPr/>
        </p:nvSpPr>
        <p:spPr>
          <a:xfrm>
            <a:off x="3156966" y="2249501"/>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r>
              <a:rPr lang="en-US" b="1" dirty="0">
                <a:latin typeface="Lato" panose="020F0502020204030203" pitchFamily="34" charset="0"/>
                <a:ea typeface="Calibri" pitchFamily="34" charset="-122"/>
                <a:cs typeface="Arial" panose="020B0604020202020204" pitchFamily="34" charset="0"/>
              </a:rPr>
              <a:t>    Video Presentation:</a:t>
            </a:r>
          </a:p>
          <a:p>
            <a:endParaRPr lang="en-IN" dirty="0">
              <a:latin typeface="Lato" panose="020F0502020204030203" pitchFamily="34" charset="0"/>
            </a:endParaRPr>
          </a:p>
        </p:txBody>
      </p:sp>
      <p:sp>
        <p:nvSpPr>
          <p:cNvPr id="15" name="Text 13"/>
          <p:cNvSpPr/>
          <p:nvPr/>
        </p:nvSpPr>
        <p:spPr>
          <a:xfrm>
            <a:off x="3218688" y="2235285"/>
            <a:ext cx="2788920" cy="2651760"/>
          </a:xfrm>
          <a:prstGeom prst="rect">
            <a:avLst/>
          </a:prstGeom>
          <a:noFill/>
          <a:ln/>
        </p:spPr>
        <p:txBody>
          <a:bodyPr wrap="square" rtlCol="0" anchor="ctr"/>
          <a:lstStyle/>
          <a:p>
            <a:pPr marL="0" indent="0" algn="ctr">
              <a:buNone/>
            </a:pPr>
            <a:r>
              <a:rPr lang="en-US" b="1" dirty="0">
                <a:latin typeface="Lato" panose="020F0502020204030203" pitchFamily="34" charset="0"/>
                <a:ea typeface="Calibri" pitchFamily="34" charset="-122"/>
                <a:cs typeface="Arial" panose="020B0604020202020204" pitchFamily="34" charset="0"/>
                <a:hlinkClick r:id="rId5"/>
              </a:rPr>
              <a:t>https://youtu.be/jJxOhHrAaRQ</a:t>
            </a:r>
            <a:endParaRPr lang="en-US" b="1" dirty="0">
              <a:latin typeface="Lato" panose="020F0502020204030203" pitchFamily="34" charset="0"/>
              <a:ea typeface="Calibri" pitchFamily="34" charset="-122"/>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58484" y="213951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196877"/>
            <a:ext cx="2788920" cy="465043"/>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Live Dashboard(Power BI):</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139519"/>
            <a:ext cx="2514600" cy="2651760"/>
          </a:xfrm>
          <a:prstGeom prst="rect">
            <a:avLst/>
          </a:prstGeom>
          <a:noFill/>
          <a:ln/>
        </p:spPr>
        <p:txBody>
          <a:bodyPr wrap="square" rtlCol="0" anchor="ctr"/>
          <a:lstStyle/>
          <a:p>
            <a:pPr marL="0" indent="0" algn="ctr">
              <a:buNone/>
            </a:pPr>
            <a:endParaRPr lang="en-US" sz="1600" dirty="0">
              <a:latin typeface="Lato" panose="020F0502020204030203" pitchFamily="34" charset="0"/>
              <a:ea typeface="Calibri" pitchFamily="34" charset="-122"/>
              <a:cs typeface="Arial" panose="020B0604020202020204" pitchFamily="34" charset="0"/>
            </a:endParaRPr>
          </a:p>
          <a:p>
            <a:pPr marL="0" indent="0" algn="ctr">
              <a:buNone/>
            </a:pPr>
            <a:r>
              <a:rPr lang="en-US" sz="1600" dirty="0">
                <a:latin typeface="Lato" panose="020F0502020204030203" pitchFamily="34" charset="0"/>
                <a:ea typeface="Calibri" pitchFamily="34" charset="-122"/>
                <a:cs typeface="Arial" panose="020B0604020202020204" pitchFamily="34" charset="0"/>
                <a:hlinkClick r:id="rId6"/>
              </a:rPr>
              <a:t>https://app.powerbi.com/links/hhLERj3EWZ?ctid=aed43286-0f66-47d6-942b-d31a4b8addca&amp;pbi_source=linkShare</a:t>
            </a:r>
            <a:endParaRPr lang="en-US" sz="1600" dirty="0">
              <a:latin typeface="Lato" panose="020F0502020204030203" pitchFamily="34" charset="0"/>
              <a:ea typeface="Calibri" pitchFamily="34" charset="-122"/>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71578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74320"/>
          </a:xfrm>
          <a:prstGeom prst="rect">
            <a:avLst/>
          </a:prstGeom>
          <a:solidFill>
            <a:srgbClr val="FFFFFF"/>
          </a:solidFill>
          <a:ln w="6350">
            <a:solidFill>
              <a:srgbClr val="CCCCCC"/>
            </a:solidFill>
            <a:prstDash val="solid"/>
          </a:ln>
        </p:spPr>
        <p:txBody>
          <a:bodyPr/>
          <a:lstStyle/>
          <a:p>
            <a:endParaRPr lang="en-IN" dirty="0"/>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endParaRPr lang="en-US" sz="1100" dirty="0"/>
          </a:p>
        </p:txBody>
      </p:sp>
      <p:sp>
        <p:nvSpPr>
          <p:cNvPr id="2" name="Rectangle 1">
            <a:extLst>
              <a:ext uri="{FF2B5EF4-FFF2-40B4-BE49-F238E27FC236}">
                <a16:creationId xmlns:a16="http://schemas.microsoft.com/office/drawing/2014/main" id="{11AD4281-C345-4422-BB82-C29F6ED5F407}"/>
              </a:ext>
            </a:extLst>
          </p:cNvPr>
          <p:cNvSpPr/>
          <p:nvPr/>
        </p:nvSpPr>
        <p:spPr>
          <a:xfrm>
            <a:off x="1389888" y="777240"/>
            <a:ext cx="4724233" cy="369332"/>
          </a:xfrm>
          <a:prstGeom prst="rect">
            <a:avLst/>
          </a:prstGeom>
        </p:spPr>
        <p:txBody>
          <a:bodyPr wrap="square">
            <a:spAutoFit/>
          </a:bodyPr>
          <a:lstStyle/>
          <a:p>
            <a:r>
              <a:rPr lang="en-IN" dirty="0">
                <a:hlinkClick r:id="rId4"/>
              </a:rPr>
              <a:t>https://youtu.be/jJxOhHrAaRQ</a:t>
            </a:r>
            <a:endParaRPr lang="en-IN"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r>
              <a:rPr lang="en-US" dirty="0">
                <a:latin typeface="Lato" panose="020F0502020204030203" pitchFamily="34" charset="0"/>
                <a:cs typeface="Arial" panose="020B0604020202020204" pitchFamily="34" charset="0"/>
              </a:rPr>
              <a:t>Data into meaningful insights using Excel and Power BI. The data cleaning, analysis, and visualization process helped identify key trends in sales, profit, and customer behavior. An interactive dashboard was developed to support clear and effective decision-making. All project objectives were achieved, and the solution provides a scalable and practical approach for real-world business analysis.</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1399" y="1389278"/>
            <a:ext cx="4512365" cy="3384274"/>
          </a:xfrm>
          <a:prstGeom prst="rect">
            <a:avLst/>
          </a:prstGeom>
        </p:spPr>
      </p:pic>
      <p:sp>
        <p:nvSpPr>
          <p:cNvPr id="6" name="Rectangle 5">
            <a:extLst>
              <a:ext uri="{FF2B5EF4-FFF2-40B4-BE49-F238E27FC236}">
                <a16:creationId xmlns:a16="http://schemas.microsoft.com/office/drawing/2014/main" id="{A0C69AA7-D4D6-4CFF-9E6D-0971271009A6}"/>
              </a:ext>
            </a:extLst>
          </p:cNvPr>
          <p:cNvSpPr/>
          <p:nvPr/>
        </p:nvSpPr>
        <p:spPr>
          <a:xfrm>
            <a:off x="295200" y="1238399"/>
            <a:ext cx="6562800" cy="2585323"/>
          </a:xfrm>
          <a:prstGeom prst="rect">
            <a:avLst/>
          </a:prstGeom>
        </p:spPr>
        <p:txBody>
          <a:bodyPr wrap="square">
            <a:spAutoFit/>
          </a:bodyPr>
          <a:lstStyle/>
          <a:p>
            <a:pPr marL="285750" indent="-285750">
              <a:buFont typeface="Arial" panose="020B0604020202020204" pitchFamily="34" charset="0"/>
              <a:buChar char="•"/>
            </a:pPr>
            <a:r>
              <a:rPr lang="en-IN" dirty="0"/>
              <a:t>Integrate real-time data updates using APIs or Power Automate.</a:t>
            </a:r>
          </a:p>
          <a:p>
            <a:pPr marL="285750" indent="-285750">
              <a:buFont typeface="Arial" panose="020B0604020202020204" pitchFamily="34" charset="0"/>
              <a:buChar char="•"/>
            </a:pPr>
            <a:r>
              <a:rPr lang="en-IN" dirty="0"/>
              <a:t>Apply machine learning models for sales forecasting and trend prediction.</a:t>
            </a:r>
          </a:p>
          <a:p>
            <a:pPr marL="285750" indent="-285750">
              <a:buFont typeface="Arial" panose="020B0604020202020204" pitchFamily="34" charset="0"/>
              <a:buChar char="•"/>
            </a:pPr>
            <a:r>
              <a:rPr lang="en-IN" dirty="0"/>
              <a:t>Enhance dashboards with advanced analytics and more interactive visuals.</a:t>
            </a:r>
          </a:p>
          <a:p>
            <a:pPr marL="285750" indent="-285750">
              <a:buFont typeface="Arial" panose="020B0604020202020204" pitchFamily="34" charset="0"/>
              <a:buChar char="•"/>
            </a:pPr>
            <a:r>
              <a:rPr lang="en-IN" dirty="0"/>
              <a:t>Expand dataset to include more business parameters for deeper insights.</a:t>
            </a:r>
          </a:p>
          <a:p>
            <a:pPr marL="285750" indent="-285750">
              <a:buFont typeface="Arial" panose="020B0604020202020204" pitchFamily="34" charset="0"/>
              <a:buChar char="•"/>
            </a:pPr>
            <a:r>
              <a:rPr lang="en-IN" dirty="0"/>
              <a:t>Develop a user-friendly web or mobile interface for wider accessibility.</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572</Words>
  <Application>Microsoft Office PowerPoint</Application>
  <PresentationFormat>On-screen Show (16:9)</PresentationFormat>
  <Paragraphs>77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Sumaiya Shaik</cp:lastModifiedBy>
  <cp:revision>40</cp:revision>
  <dcterms:created xsi:type="dcterms:W3CDTF">2026-02-18T09:17:23Z</dcterms:created>
  <dcterms:modified xsi:type="dcterms:W3CDTF">2026-04-29T15:36:35Z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